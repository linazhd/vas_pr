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0F59E-0C9F-4E1E-B52B-04DE24066632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E7162-2D16-41BF-AB9D-5DE97F476E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ааа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E7162-2D16-41BF-AB9D-5DE97F476E3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44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483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84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28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29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2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30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30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47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31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9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7258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390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4256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552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401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54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E297B-2F71-46F8-BE2B-B46D040EEC75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E8122F4-DAA2-4253-B06C-D9E31D86D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0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853e0add8aad1e86&amp;cs=0&amp;sxsrf=AE3TifP2cm0guRls6hCYHLI2_z4YU8R95A%3A1762262833147&amp;q=%D1%80%D0%B5%D0%BA%D1%83%D1%80%D1%80%D0%B5%D0%BD%D1%82%D0%BD%D0%BE%D0%B9+%D0%B7%D0%B0%D0%B2%D0%B8%D1%81%D0%B8%D0%BC%D0%BE%D1%81%D1%82%D0%B8&amp;sa=X&amp;ved=2ahUKEwi_rqzRzNiQAxUN4AIHHZqlC8UQxccNegQIJRAB&amp;mstk=AUtExfDQ_On5s7fryp3JFEZYQD0e2eGNqA-bl1UvN9Wax6qy_cqxegUVg568vp1ccI9bXcqvIajIrjaT4I1gGBgHwsaPwXxW6FFF5cHWE_Iy_vhZp7ZoDb-AXArFXpJ6tlqrA5bFkICIwN_EL01iDY3Zs9ne7s2KphFwcccsMs0_Hm91m9A&amp;csui=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03F70-6BF5-4569-A0FA-2188CFA1B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827" y="1782698"/>
            <a:ext cx="9059334" cy="1549781"/>
          </a:xfrm>
        </p:spPr>
        <p:txBody>
          <a:bodyPr/>
          <a:lstStyle/>
          <a:p>
            <a:pPr algn="ctr"/>
            <a:r>
              <a:rPr lang="ru-RU" sz="4800" dirty="0"/>
              <a:t>Анализ алгоритмической сложности нахождения чисел Фибоначчи на </a:t>
            </a:r>
            <a:r>
              <a:rPr lang="en-US" sz="4800" dirty="0"/>
              <a:t>C </a:t>
            </a:r>
            <a:r>
              <a:rPr lang="ru-RU" sz="4800" dirty="0"/>
              <a:t>и </a:t>
            </a:r>
            <a:r>
              <a:rPr lang="en-US" sz="4800" dirty="0"/>
              <a:t>Java</a:t>
            </a:r>
            <a:r>
              <a:rPr lang="ru-RU" sz="4800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32636A-E1C7-4829-873F-E46ABCA43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5841" y="3525522"/>
            <a:ext cx="2580639" cy="278383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Выполнили:</a:t>
            </a:r>
          </a:p>
          <a:p>
            <a:r>
              <a:rPr lang="ru-RU" dirty="0">
                <a:solidFill>
                  <a:schemeClr val="tx1"/>
                </a:solidFill>
              </a:rPr>
              <a:t>ст. гр. ЭАС-513С</a:t>
            </a:r>
          </a:p>
          <a:p>
            <a:r>
              <a:rPr lang="ru-RU" dirty="0">
                <a:solidFill>
                  <a:schemeClr val="tx1"/>
                </a:solidFill>
              </a:rPr>
              <a:t>Жданова Э.В.</a:t>
            </a:r>
          </a:p>
          <a:p>
            <a:r>
              <a:rPr lang="ru-RU" dirty="0">
                <a:solidFill>
                  <a:schemeClr val="tx1"/>
                </a:solidFill>
              </a:rPr>
              <a:t>Рубина Я.И.</a:t>
            </a:r>
          </a:p>
          <a:p>
            <a:r>
              <a:rPr lang="ru-RU" dirty="0">
                <a:solidFill>
                  <a:schemeClr val="tx1"/>
                </a:solidFill>
              </a:rPr>
              <a:t>Проверил:</a:t>
            </a:r>
          </a:p>
          <a:p>
            <a:r>
              <a:rPr lang="ru-RU" dirty="0">
                <a:solidFill>
                  <a:schemeClr val="tx1"/>
                </a:solidFill>
              </a:rPr>
              <a:t>проф. каф. АСУ</a:t>
            </a:r>
          </a:p>
          <a:p>
            <a:r>
              <a:rPr lang="ru-RU" dirty="0" err="1">
                <a:solidFill>
                  <a:schemeClr val="tx1"/>
                </a:solidFill>
              </a:rPr>
              <a:t>Арьков</a:t>
            </a:r>
            <a:r>
              <a:rPr lang="ru-RU" dirty="0">
                <a:solidFill>
                  <a:schemeClr val="tx1"/>
                </a:solidFill>
              </a:rPr>
              <a:t> Ю.В.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893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55540-0CDD-4AAD-B305-CE487446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Числа Фибоначчи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F7E32E-7050-4081-B298-B0FB185C3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2881"/>
            <a:ext cx="8893386" cy="5110480"/>
          </a:xfrm>
        </p:spPr>
        <p:txBody>
          <a:bodyPr>
            <a:normAutofit fontScale="92500" lnSpcReduction="10000"/>
          </a:bodyPr>
          <a:lstStyle/>
          <a:p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Числа Фибоначчи — это числовая последовательность, в которой каждое последующее число является суммой двух предыдущих. Обычно она начинается с 0 и 1, создавая ряд: 0, 1, 1, 2, 3, 5, 8, 13, 21 и так далее. Эта последовательность является примером </a:t>
            </a: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hlinkClick r:id="rId2"/>
              </a:rPr>
              <a:t>рекуррентной зависимости</a:t>
            </a: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, так как каждое новое значение зависит от предыдущих.</a:t>
            </a:r>
          </a:p>
          <a:p>
            <a:r>
              <a:rPr lang="ru-RU" sz="2400" dirty="0"/>
              <a:t>Формула: </a:t>
            </a: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Это правило можно записать в виде рекурсивной формулы: </a:t>
            </a:r>
            <a:b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</a:b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                                  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F(n) = F(n-1) + F(n-2)</a:t>
            </a:r>
            <a:r>
              <a:rPr lang="ru-RU" sz="2400" dirty="0">
                <a:solidFill>
                  <a:srgbClr val="0A0A0A"/>
                </a:solidFill>
                <a:latin typeface="Arial" panose="020B0604020202020204" pitchFamily="34" charset="0"/>
              </a:rPr>
              <a:t>,</a:t>
            </a:r>
            <a:br>
              <a:rPr lang="ru-RU" sz="2400" dirty="0">
                <a:solidFill>
                  <a:srgbClr val="0A0A0A"/>
                </a:solidFill>
                <a:latin typeface="Arial" panose="020B0604020202020204" pitchFamily="34" charset="0"/>
              </a:rPr>
            </a:br>
            <a:br>
              <a:rPr lang="ru-RU" sz="2400" dirty="0">
                <a:solidFill>
                  <a:srgbClr val="0A0A0A"/>
                </a:solidFill>
                <a:latin typeface="Arial" panose="020B0604020202020204" pitchFamily="34" charset="0"/>
              </a:rPr>
            </a:b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где 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F(n) – n-</a:t>
            </a: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е число Фибоначчи.</a:t>
            </a:r>
          </a:p>
          <a:p>
            <a:pPr algn="l"/>
            <a:r>
              <a:rPr lang="ru-RU" sz="240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Применение</a:t>
            </a:r>
            <a:r>
              <a:rPr lang="ru-RU" sz="24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Числа Фибоначчи находят применение в различных областях, таких как программирование, математика, биология и даже в оценке задач в </a:t>
            </a:r>
            <a:r>
              <a:rPr lang="ru-RU" sz="2400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Agile</a:t>
            </a:r>
            <a:r>
              <a:rPr lang="ru-RU" sz="2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, где они используются для определения относительной сложности задач.</a:t>
            </a:r>
          </a:p>
          <a:p>
            <a:endParaRPr lang="ru-RU" b="0" i="0" dirty="0">
              <a:solidFill>
                <a:srgbClr val="0A0A0A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9584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B10D5-BA9A-42CF-9326-C08316510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Основной алгоритм программы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095E19E-94B3-49EB-95ED-E4ED0D0BD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7017" r="74898"/>
          <a:stretch/>
        </p:blipFill>
        <p:spPr>
          <a:xfrm>
            <a:off x="9274002" y="0"/>
            <a:ext cx="1978780" cy="67505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372909-5C10-4C23-BB4E-59DCA90C9CBC}"/>
              </a:ext>
            </a:extLst>
          </p:cNvPr>
          <p:cNvSpPr txBox="1"/>
          <p:nvPr/>
        </p:nvSpPr>
        <p:spPr>
          <a:xfrm>
            <a:off x="677334" y="1416308"/>
            <a:ext cx="836021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Основной алгоритм программы включает в себя последовательный вызов 4-х подфункций:</a:t>
            </a:r>
          </a:p>
          <a:p>
            <a:pPr marL="342900" indent="-342900">
              <a:buAutoNum type="arabicParenR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fib_naive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наивная реализация исходного алгоритма</a:t>
            </a:r>
          </a:p>
          <a:p>
            <a:pPr marL="342900" indent="-342900">
              <a:buAutoNum type="arabicParenR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fib_memo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с сохранением всех найденных чисел в массиве/списке/словаре (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мемоизация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AutoNum type="arabicParenR"/>
            </a:pPr>
            <a:r>
              <a:rPr 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fib_cached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реализация с использованием встроенных средств кэширования результатов вызова функции</a:t>
            </a:r>
          </a:p>
          <a:p>
            <a:pPr marL="342900" indent="-342900">
              <a:buAutoNum type="arabicParenR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fib_iter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оптимальный вариант алгоритма </a:t>
            </a:r>
            <a:endParaRPr lang="ru-RU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31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D0340-E7B5-4CBA-9C3A-3C8501DE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238"/>
            <a:ext cx="11637519" cy="1320800"/>
          </a:xfrm>
        </p:spPr>
        <p:txBody>
          <a:bodyPr>
            <a:normAutofit/>
          </a:bodyPr>
          <a:lstStyle/>
          <a:p>
            <a:r>
              <a:rPr lang="ru-RU" sz="3200" dirty="0"/>
              <a:t>Схемы алгоритмов функций </a:t>
            </a:r>
            <a:r>
              <a:rPr lang="en-US" sz="3200" dirty="0" err="1"/>
              <a:t>fib_naive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 err="1"/>
              <a:t>fib_memo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57C483-2BFC-48E1-9C75-3233758E3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714" y="6237305"/>
            <a:ext cx="4185623" cy="576262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fib_naive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A256C0-2A72-4739-A93F-24D2D0142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0856" y="6281738"/>
            <a:ext cx="4185618" cy="576262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fib_memo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F0F6B2C-C223-4FF7-94B8-8F205D048716}"/>
              </a:ext>
            </a:extLst>
          </p:cNvPr>
          <p:cNvPicPr>
            <a:picLocks noGrp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17" t="6988" b="16317"/>
          <a:stretch/>
        </p:blipFill>
        <p:spPr bwMode="auto">
          <a:xfrm>
            <a:off x="554481" y="637024"/>
            <a:ext cx="4676419" cy="5388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62681077-D1C5-47A0-A9C5-B69E2B0EEFA9}"/>
              </a:ext>
            </a:extLst>
          </p:cNvPr>
          <p:cNvPicPr>
            <a:picLocks noGrp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2" r="50514" b="3575"/>
          <a:stretch/>
        </p:blipFill>
        <p:spPr bwMode="auto">
          <a:xfrm>
            <a:off x="5944069" y="637024"/>
            <a:ext cx="3582405" cy="57801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3275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D0340-E7B5-4CBA-9C3A-3C8501DE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238"/>
            <a:ext cx="11637519" cy="1320800"/>
          </a:xfrm>
        </p:spPr>
        <p:txBody>
          <a:bodyPr>
            <a:normAutofit/>
          </a:bodyPr>
          <a:lstStyle/>
          <a:p>
            <a:r>
              <a:rPr lang="ru-RU" sz="3200" dirty="0"/>
              <a:t>Схемы алгоритмов функций </a:t>
            </a:r>
            <a:r>
              <a:rPr lang="en-US" sz="3200" dirty="0" err="1"/>
              <a:t>fib_cached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 err="1"/>
              <a:t>fib_iter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57C483-2BFC-48E1-9C75-3233758E3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413" y="6227141"/>
            <a:ext cx="4185623" cy="576262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fib_cached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A256C0-2A72-4739-A93F-24D2D0142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0856" y="6302829"/>
            <a:ext cx="4185618" cy="576262"/>
          </a:xfrm>
        </p:spPr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fib_iter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785B8310-B42C-4272-9828-8CE84D66CBD6}"/>
              </a:ext>
            </a:extLst>
          </p:cNvPr>
          <p:cNvPicPr>
            <a:picLocks noGrp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6" r="45547" b="6258"/>
          <a:stretch/>
        </p:blipFill>
        <p:spPr bwMode="auto">
          <a:xfrm>
            <a:off x="1006583" y="630859"/>
            <a:ext cx="3919548" cy="568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73913A5A-1D47-4C44-8DBC-DE55F2C3BC36}"/>
              </a:ext>
            </a:extLst>
          </p:cNvPr>
          <p:cNvPicPr>
            <a:picLocks noGrp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03" t="6383" b="19261"/>
          <a:stretch/>
        </p:blipFill>
        <p:spPr bwMode="auto">
          <a:xfrm>
            <a:off x="5818759" y="630859"/>
            <a:ext cx="3406884" cy="5867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108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Java: </a:t>
            </a:r>
            <a:r>
              <a:rPr lang="ru-RU" dirty="0"/>
              <a:t>Наивная 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76701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long </a:t>
            </a:r>
            <a:r>
              <a:rPr lang="en-US" sz="32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fibNaive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if (n &lt;= 1) return n;</a:t>
            </a:r>
            <a:endParaRPr lang="ru-RU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return </a:t>
            </a:r>
            <a:r>
              <a:rPr lang="en-US" sz="32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fibNaive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- 1) + </a:t>
            </a:r>
            <a:r>
              <a:rPr lang="en-US" sz="32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fibNaive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- 2);</a:t>
            </a:r>
            <a:endParaRPr lang="ru-RU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}</a:t>
            </a:r>
            <a:endParaRPr lang="ru-RU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210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Java: </a:t>
            </a:r>
            <a:r>
              <a:rPr lang="ru-RU" dirty="0" err="1"/>
              <a:t>Мемоизация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871"/>
            <a:ext cx="9266766" cy="466452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Map&lt;Integer, Long&gt; memo = new HashMap&lt;&gt;();</a:t>
            </a:r>
            <a:endParaRPr lang="ru-RU" sz="2800" kern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long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fibMemo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if (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memo.containsKey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(n)) return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memo.get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if (n &lt;= 1)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memo.put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(n, (long)n);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else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memo.put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(n,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fibMemo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- 1) +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fibMemo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- 2));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return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memo.get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(n);</a:t>
            </a:r>
            <a:endParaRPr lang="ru-RU" sz="2800" kern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ru-RU" sz="2800" kern="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50076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Java: </a:t>
            </a:r>
            <a:r>
              <a:rPr lang="ru-RU" dirty="0"/>
              <a:t>Кэширование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871"/>
            <a:ext cx="9266766" cy="466452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static Map&lt;Integer, Long&gt; cache = new HashMap&lt;&gt;();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static long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fibCached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if (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cache.containsKey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(n)) return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cache.get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if (n &lt;= 1)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cache.put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(n, (long)n);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else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cache.put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(n,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fibCached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- 1) +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fibCached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- 2));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cache.get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6396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Java: </a:t>
            </a:r>
            <a:r>
              <a:rPr lang="ru-RU" dirty="0"/>
              <a:t>Итеративный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871"/>
            <a:ext cx="9266766" cy="527412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static long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fibIter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long a = 0, b = 1,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for (int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n;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 {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a;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a = b;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b =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b;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}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a;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392812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38FA6-0603-4398-A81D-F1F80A93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846653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Java:</a:t>
            </a:r>
            <a:r>
              <a:rPr lang="ru-RU" dirty="0"/>
              <a:t> сравнение времени работы</a:t>
            </a:r>
            <a:br>
              <a:rPr lang="ru-RU" dirty="0"/>
            </a:br>
            <a:r>
              <a:rPr lang="ru-RU" dirty="0"/>
              <a:t>Локальные вычисления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A635473-A14D-452A-8DF4-1D76822CD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679330"/>
            <a:ext cx="4797856" cy="2248271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D4F0FC-4D42-4B96-B30D-D996A5621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751"/>
            <a:ext cx="5658676" cy="338247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3A450C-5433-490D-AFAB-28EED3D7D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277" y="3646766"/>
            <a:ext cx="5265399" cy="307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4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38FA6-0603-4398-A81D-F1F80A93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846653" cy="1676400"/>
          </a:xfrm>
        </p:spPr>
        <p:txBody>
          <a:bodyPr>
            <a:normAutofit fontScale="90000"/>
          </a:bodyPr>
          <a:lstStyle/>
          <a:p>
            <a:r>
              <a:rPr lang="en-US" dirty="0"/>
              <a:t>Java:</a:t>
            </a:r>
            <a:r>
              <a:rPr lang="ru-RU" dirty="0"/>
              <a:t> сравнение времени работы</a:t>
            </a:r>
            <a:br>
              <a:rPr lang="ru-RU" dirty="0"/>
            </a:br>
            <a:r>
              <a:rPr lang="ru-RU" dirty="0"/>
              <a:t>Облачные вычисления</a:t>
            </a:r>
          </a:p>
        </p:txBody>
      </p:sp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E5437F6F-0F9D-454F-9677-37F8FB828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686" y="2519282"/>
            <a:ext cx="4846653" cy="2274800"/>
          </a:xfr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4D20623-80E7-40AF-8E5E-1942ABF94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174" y="143729"/>
            <a:ext cx="6115140" cy="351295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411E111-FDB5-4E74-BD09-49AD5E63E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7" y="3804557"/>
            <a:ext cx="5303747" cy="305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85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en-US" dirty="0"/>
              <a:t>: </a:t>
            </a:r>
            <a:r>
              <a:rPr lang="ru-RU" dirty="0"/>
              <a:t>Наивная 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871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unsigned long </a:t>
            </a:r>
            <a:r>
              <a:rPr lang="en-US" sz="36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fib_naive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(n &lt;= 1) return n;</a:t>
            </a:r>
            <a:endParaRPr lang="ru-RU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</a:t>
            </a:r>
            <a:r>
              <a:rPr lang="en-US" sz="36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fib_naive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- 1) + </a:t>
            </a:r>
            <a:r>
              <a:rPr lang="en-US" sz="36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fib_naive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- 2);</a:t>
            </a:r>
            <a:endParaRPr lang="ru-RU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5517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en-US" dirty="0"/>
              <a:t>: </a:t>
            </a:r>
            <a:r>
              <a:rPr lang="ru-RU" dirty="0" err="1"/>
              <a:t>Мемоизация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613"/>
            <a:ext cx="9266766" cy="540475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unsigned long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memo[1000];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filled[1000] = { 0 };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unsigned long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fib_memo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(filled[n]) return memo[n];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(n &lt;= 1) memo[n] = n;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else memo[n] =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fib_memo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- 1) +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fib_memo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- 2);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filled[n] = 1;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memo[n];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56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099"/>
            <a:ext cx="8596668" cy="1320800"/>
          </a:xfrm>
        </p:spPr>
        <p:txBody>
          <a:bodyPr/>
          <a:lstStyle/>
          <a:p>
            <a:r>
              <a:rPr lang="ru-RU" dirty="0"/>
              <a:t>С</a:t>
            </a:r>
            <a:r>
              <a:rPr lang="en-US" dirty="0"/>
              <a:t>: </a:t>
            </a:r>
            <a:r>
              <a:rPr lang="ru-RU" dirty="0"/>
              <a:t>Кэширование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34" y="698499"/>
            <a:ext cx="9266766" cy="504008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unsigned long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fib_cached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static unsigned long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cache[1000];</a:t>
            </a:r>
            <a:endParaRPr lang="ru-RU" kern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static int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(!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for (int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1000;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 cache[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= 0;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1;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ru-RU" kern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 (n &lt;= 1) return n;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(cache[n] != 0) return cache[n];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cache[n] =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fib_cached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- 1) + 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fib_cached</a:t>
            </a: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 - 2);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cache[n];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8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71EA-9327-42AC-B87B-F85819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en-US" dirty="0"/>
              <a:t>: </a:t>
            </a:r>
            <a:r>
              <a:rPr lang="ru-RU" dirty="0"/>
              <a:t>Итеративный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EFA8D-8B8A-474E-AA72-8409D67AC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3243"/>
            <a:ext cx="9266766" cy="527412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unsigned long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fib_iter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(int n) {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unsigned long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= 0, b = 1,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for (int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n;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 {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a;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a = b;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b =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tmp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b;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a;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82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38FA6-0603-4398-A81D-F1F80A93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846653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C:</a:t>
            </a:r>
            <a:r>
              <a:rPr lang="ru-RU" dirty="0"/>
              <a:t> сравнение времени работы</a:t>
            </a:r>
            <a:br>
              <a:rPr lang="ru-RU" dirty="0"/>
            </a:br>
            <a:r>
              <a:rPr lang="ru-RU" dirty="0"/>
              <a:t>Локальные вычисления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6E8628F-D2F1-4439-B448-2A8E4E6AC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947" y="2429399"/>
            <a:ext cx="4846653" cy="225916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D18A47-2D2E-46D1-BBC3-3270DCC2B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18" y="139751"/>
            <a:ext cx="6119735" cy="328924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2AC894C-2DE6-46D3-8CEE-4EB6996B1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229" y="3580371"/>
            <a:ext cx="5559824" cy="300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19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38FA6-0603-4398-A81D-F1F80A93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846653" cy="1676400"/>
          </a:xfrm>
        </p:spPr>
        <p:txBody>
          <a:bodyPr>
            <a:normAutofit fontScale="90000"/>
          </a:bodyPr>
          <a:lstStyle/>
          <a:p>
            <a:r>
              <a:rPr lang="en-US" dirty="0"/>
              <a:t>C:</a:t>
            </a:r>
            <a:r>
              <a:rPr lang="ru-RU" dirty="0"/>
              <a:t> сравнение времени работы</a:t>
            </a:r>
            <a:br>
              <a:rPr lang="ru-RU" dirty="0"/>
            </a:br>
            <a:r>
              <a:rPr lang="ru-RU" dirty="0"/>
              <a:t>Облачные вычисления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CF02296-B263-4970-BFC5-0220E22B7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40" y="2553351"/>
            <a:ext cx="5303747" cy="2502412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F2EF22E-7881-47FF-9BC3-A67B4BAE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659" y="202613"/>
            <a:ext cx="5880503" cy="339389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2535E32-20A9-4F04-8D58-4D1E95EB0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567" y="3706586"/>
            <a:ext cx="5527595" cy="313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80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DE7C9-5628-4184-9BDF-9C5B35E5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29" y="156238"/>
            <a:ext cx="9952566" cy="1320800"/>
          </a:xfrm>
        </p:spPr>
        <p:txBody>
          <a:bodyPr>
            <a:normAutofit/>
          </a:bodyPr>
          <a:lstStyle/>
          <a:p>
            <a:r>
              <a:rPr lang="ru-RU" sz="3200" dirty="0"/>
              <a:t>Сравнение </a:t>
            </a:r>
            <a:r>
              <a:rPr lang="en-US" sz="3200" dirty="0"/>
              <a:t>C </a:t>
            </a:r>
            <a:r>
              <a:rPr lang="ru-RU" sz="3200" dirty="0"/>
              <a:t>и </a:t>
            </a:r>
            <a:r>
              <a:rPr lang="en-US" sz="3200" dirty="0"/>
              <a:t>Java (</a:t>
            </a:r>
            <a:r>
              <a:rPr lang="ru-RU" sz="3200" dirty="0"/>
              <a:t>локальные вычисления)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AC0D65C-3317-4309-9BF8-29222485D8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7584" y="816638"/>
            <a:ext cx="4702628" cy="281099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89EED5-A41B-4959-B348-DD8BBBC6F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21" y="3521815"/>
            <a:ext cx="470262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E55F17-7C2A-429A-A0C5-8DE99D8309DB}"/>
              </a:ext>
            </a:extLst>
          </p:cNvPr>
          <p:cNvSpPr txBox="1"/>
          <p:nvPr/>
        </p:nvSpPr>
        <p:spPr>
          <a:xfrm>
            <a:off x="-385542" y="6314809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C2D35-415E-44A9-948C-A2FE3F90F7D4}"/>
              </a:ext>
            </a:extLst>
          </p:cNvPr>
          <p:cNvSpPr txBox="1"/>
          <p:nvPr/>
        </p:nvSpPr>
        <p:spPr>
          <a:xfrm>
            <a:off x="5725887" y="6439369"/>
            <a:ext cx="6457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386174CE-F74B-4E78-977C-DF51FBB43F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5916" y="676643"/>
            <a:ext cx="5293518" cy="284517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092BA5-E33E-4D8F-9A7E-CFEE076B8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21815"/>
            <a:ext cx="5373434" cy="290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34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DE7C9-5628-4184-9BDF-9C5B35E5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29" y="156238"/>
            <a:ext cx="9952566" cy="1320800"/>
          </a:xfrm>
        </p:spPr>
        <p:txBody>
          <a:bodyPr>
            <a:normAutofit/>
          </a:bodyPr>
          <a:lstStyle/>
          <a:p>
            <a:r>
              <a:rPr lang="ru-RU" sz="3200" dirty="0"/>
              <a:t>Сравнение </a:t>
            </a:r>
            <a:r>
              <a:rPr lang="en-US" sz="3200" dirty="0"/>
              <a:t>C </a:t>
            </a:r>
            <a:r>
              <a:rPr lang="ru-RU" sz="3200" dirty="0"/>
              <a:t>и </a:t>
            </a:r>
            <a:r>
              <a:rPr lang="en-US" sz="3200" dirty="0"/>
              <a:t>Java (</a:t>
            </a:r>
            <a:r>
              <a:rPr lang="ru-RU" sz="3200" dirty="0"/>
              <a:t>облачные вычисления)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55F17-7C2A-429A-A0C5-8DE99D8309DB}"/>
              </a:ext>
            </a:extLst>
          </p:cNvPr>
          <p:cNvSpPr txBox="1"/>
          <p:nvPr/>
        </p:nvSpPr>
        <p:spPr>
          <a:xfrm>
            <a:off x="-385542" y="6314809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C2D35-415E-44A9-948C-A2FE3F90F7D4}"/>
              </a:ext>
            </a:extLst>
          </p:cNvPr>
          <p:cNvSpPr txBox="1"/>
          <p:nvPr/>
        </p:nvSpPr>
        <p:spPr>
          <a:xfrm>
            <a:off x="5725887" y="6439369"/>
            <a:ext cx="6457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50996D-85BB-45BF-89B3-213A9298C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449" y="3711444"/>
            <a:ext cx="4988331" cy="2829095"/>
          </a:xfrm>
          <a:prstGeom prst="rect">
            <a:avLst/>
          </a:prstGeom>
        </p:spPr>
      </p:pic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717EC4B2-D28A-4A7C-9928-BBC51DA5C8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5143" y="696334"/>
            <a:ext cx="5255091" cy="3032937"/>
          </a:xfrm>
          <a:prstGeom prst="rect">
            <a:avLst/>
          </a:prstGeom>
        </p:spPr>
      </p:pic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6E9BA1BB-395D-460E-B5ED-73803219AB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65163" y="816638"/>
            <a:ext cx="4860724" cy="279233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85E5119-A086-4E24-B36A-6EAA67334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34" y="3647039"/>
            <a:ext cx="4850200" cy="279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38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38E5E-C6C4-47CA-B05B-356F003E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2C9501-76CB-4F25-B363-A8D0BD699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r>
              <a:rPr lang="ru-RU" sz="3200" dirty="0"/>
              <a:t>Самый быстрый алгоритм – итеративный метод.</a:t>
            </a:r>
          </a:p>
          <a:p>
            <a:r>
              <a:rPr lang="ru-RU" sz="3200" dirty="0"/>
              <a:t>Меньше всего времени заняло выполнение на языке С (локальные вычисления).</a:t>
            </a:r>
          </a:p>
        </p:txBody>
      </p:sp>
    </p:spTree>
    <p:extLst>
      <p:ext uri="{BB962C8B-B14F-4D97-AF65-F5344CB8AC3E}">
        <p14:creationId xmlns:p14="http://schemas.microsoft.com/office/powerpoint/2010/main" val="20587539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</TotalTime>
  <Words>957</Words>
  <Application>Microsoft Office PowerPoint</Application>
  <PresentationFormat>Широкоэкранный</PresentationFormat>
  <Paragraphs>108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Trebuchet MS</vt:lpstr>
      <vt:lpstr>Wingdings 3</vt:lpstr>
      <vt:lpstr>Аспект</vt:lpstr>
      <vt:lpstr>Анализ алгоритмической сложности нахождения чисел Фибоначчи на C и Java </vt:lpstr>
      <vt:lpstr>Числа Фибоначчи</vt:lpstr>
      <vt:lpstr>Основной алгоритм программы</vt:lpstr>
      <vt:lpstr>Схемы алгоритмов функций fib_naive и fib_memo</vt:lpstr>
      <vt:lpstr>Схемы алгоритмов функций fib_cached и fib_iter</vt:lpstr>
      <vt:lpstr>Java: Наивная реализация</vt:lpstr>
      <vt:lpstr>Java: Мемоизация</vt:lpstr>
      <vt:lpstr>Java: Кэширование</vt:lpstr>
      <vt:lpstr>Java: Итеративный метод</vt:lpstr>
      <vt:lpstr>Java: сравнение времени работы Локальные вычисления</vt:lpstr>
      <vt:lpstr>Java: сравнение времени работы Облачные вычисления</vt:lpstr>
      <vt:lpstr>С: Наивная реализация</vt:lpstr>
      <vt:lpstr>С: Мемоизация</vt:lpstr>
      <vt:lpstr>С: Кэширование</vt:lpstr>
      <vt:lpstr>С: Итеративный метод</vt:lpstr>
      <vt:lpstr>C: сравнение времени работы Локальные вычисления</vt:lpstr>
      <vt:lpstr>C: сравнение времени работы Облачные вычисления</vt:lpstr>
      <vt:lpstr>Сравнение C и Java (локальные вычисления)</vt:lpstr>
      <vt:lpstr>Сравнение C и Java (облачные вычисления)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алгоритмической сложности нахождения чисел Фибоначчи на C и Java</dc:title>
  <dc:creator>Жданова Э</dc:creator>
  <cp:lastModifiedBy>Эвелина Жданова</cp:lastModifiedBy>
  <cp:revision>11</cp:revision>
  <dcterms:created xsi:type="dcterms:W3CDTF">2025-11-04T13:27:18Z</dcterms:created>
  <dcterms:modified xsi:type="dcterms:W3CDTF">2025-11-09T11:35:22Z</dcterms:modified>
</cp:coreProperties>
</file>